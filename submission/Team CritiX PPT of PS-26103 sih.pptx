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hyperlink" Target="https://github.com/aditya-web28/SIH_2026_Internal_Round_Submission_Team_CritiX" TargetMode="External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hyperlink" Target="https://shap.readthedocs.io/en/latest/" TargetMode="External"/><Relationship Id="rId10" Type="http://schemas.openxmlformats.org/officeDocument/2006/relationships/image" Target="../media/image27.png"/><Relationship Id="rId4" Type="http://schemas.openxmlformats.org/officeDocument/2006/relationships/hyperlink" Target="https://ipm.mospi.gov.in" TargetMode="External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91859" y="1398990"/>
            <a:ext cx="7186210" cy="7986169"/>
          </a:xfrm>
          <a:custGeom>
            <a:avLst/>
            <a:gdLst/>
            <a:ahLst/>
            <a:cxnLst/>
            <a:rect l="l" t="t" r="r" b="b"/>
            <a:pathLst>
              <a:path w="7186210" h="7986169">
                <a:moveTo>
                  <a:pt x="0" y="0"/>
                </a:moveTo>
                <a:lnTo>
                  <a:pt x="7186210" y="0"/>
                </a:lnTo>
                <a:lnTo>
                  <a:pt x="7186210" y="7986168"/>
                </a:lnTo>
                <a:lnTo>
                  <a:pt x="0" y="7986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13618" y="2822396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58" y="2268322"/>
            <a:ext cx="11112365" cy="757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8"/>
              </a:lnSpc>
            </a:pPr>
            <a:endParaRPr/>
          </a:p>
          <a:p>
            <a:pPr marL="613622" lvl="1" indent="-306811" algn="just">
              <a:lnSpc>
                <a:spcPts val="8137"/>
              </a:lnSpc>
              <a:buFont typeface="Arial"/>
              <a:buChar char="•"/>
            </a:pPr>
            <a:r>
              <a:rPr lang="en-US" sz="339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</a:t>
            </a:r>
            <a:r>
              <a:rPr lang="en-US" sz="33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  </a:t>
            </a:r>
            <a:r>
              <a:rPr lang="en-US" sz="33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26103</a:t>
            </a:r>
          </a:p>
          <a:p>
            <a:pPr marL="613622" lvl="1" indent="-306811" algn="l">
              <a:lnSpc>
                <a:spcPts val="8476"/>
              </a:lnSpc>
              <a:buFont typeface="Arial"/>
              <a:buChar char="•"/>
            </a:pPr>
            <a:r>
              <a:rPr lang="en-US" sz="3390" b="1" u="sng" spc="1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</a:t>
            </a:r>
            <a:r>
              <a:rPr lang="en-US" sz="3390" b="1" spc="12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390" spc="1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on </a:t>
            </a:r>
          </a:p>
          <a:p>
            <a:pPr algn="l">
              <a:lnSpc>
                <a:spcPts val="8476"/>
              </a:lnSpc>
            </a:pPr>
            <a:r>
              <a:rPr lang="en-US" sz="3390" spc="1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web-based integrated project-monitoring platform</a:t>
            </a:r>
          </a:p>
          <a:p>
            <a:pPr marL="613622" lvl="1" indent="-306811" algn="just">
              <a:lnSpc>
                <a:spcPts val="8137"/>
              </a:lnSpc>
              <a:buFont typeface="Arial"/>
              <a:buChar char="•"/>
            </a:pPr>
            <a:r>
              <a:rPr lang="en-US" sz="339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</a:t>
            </a:r>
            <a:r>
              <a:rPr lang="en-US" sz="33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3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marL="613622" lvl="1" indent="-306811" algn="just">
              <a:lnSpc>
                <a:spcPts val="8137"/>
              </a:lnSpc>
              <a:buFont typeface="Arial"/>
              <a:buChar char="•"/>
            </a:pPr>
            <a:r>
              <a:rPr lang="en-US" sz="339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</a:t>
            </a:r>
            <a:r>
              <a:rPr lang="en-US" sz="33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3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13622" lvl="1" indent="-306811" algn="just">
              <a:lnSpc>
                <a:spcPts val="8137"/>
              </a:lnSpc>
              <a:buFont typeface="Arial"/>
              <a:buChar char="•"/>
            </a:pPr>
            <a:r>
              <a:rPr lang="en-US" sz="339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</a:t>
            </a:r>
            <a:r>
              <a:rPr lang="en-US" sz="33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</a:p>
          <a:p>
            <a:pPr marL="613622" lvl="1" indent="-306811" algn="just">
              <a:lnSpc>
                <a:spcPts val="8137"/>
              </a:lnSpc>
              <a:buFont typeface="Arial"/>
              <a:buChar char="•"/>
            </a:pPr>
            <a:r>
              <a:rPr lang="en-US" sz="339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  <a:r>
              <a:rPr lang="en-US" sz="33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</a:t>
            </a:r>
            <a:r>
              <a:rPr lang="en-US" sz="33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CritiX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762045" y="9449"/>
            <a:ext cx="3313681" cy="1684306"/>
            <a:chOff x="0" y="0"/>
            <a:chExt cx="4418241" cy="2245741"/>
          </a:xfrm>
        </p:grpSpPr>
        <p:sp>
          <p:nvSpPr>
            <p:cNvPr id="11" name="Freeform 11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97876"/>
            <a:ext cx="18288000" cy="689124"/>
            <a:chOff x="0" y="0"/>
            <a:chExt cx="24384000" cy="918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18832"/>
            </a:xfrm>
            <a:custGeom>
              <a:avLst/>
              <a:gdLst/>
              <a:ahLst/>
              <a:cxnLst/>
              <a:rect l="l" t="t" r="r" b="b"/>
              <a:pathLst>
                <a:path w="24384000" h="918832">
                  <a:moveTo>
                    <a:pt x="0" y="0"/>
                  </a:moveTo>
                  <a:lnTo>
                    <a:pt x="24384000" y="0"/>
                  </a:lnTo>
                  <a:lnTo>
                    <a:pt x="24384000" y="918832"/>
                  </a:lnTo>
                  <a:lnTo>
                    <a:pt x="0" y="91883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25470" y="-556520"/>
            <a:ext cx="16633830" cy="1921339"/>
            <a:chOff x="0" y="0"/>
            <a:chExt cx="21945600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34890"/>
            </a:xfrm>
            <a:custGeom>
              <a:avLst/>
              <a:gdLst/>
              <a:ahLst/>
              <a:cxnLst/>
              <a:rect l="l" t="t" r="r" b="b"/>
              <a:pathLst>
                <a:path w="21945600" h="253489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599" b="-1137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NIRIKSHAN AI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2456" y="305859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75750" y="-31055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53014" y="1793988"/>
            <a:ext cx="6699024" cy="6699024"/>
          </a:xfrm>
          <a:custGeom>
            <a:avLst/>
            <a:gdLst/>
            <a:ahLst/>
            <a:cxnLst/>
            <a:rect l="l" t="t" r="r" b="b"/>
            <a:pathLst>
              <a:path w="6699024" h="6699024">
                <a:moveTo>
                  <a:pt x="0" y="0"/>
                </a:moveTo>
                <a:lnTo>
                  <a:pt x="6699024" y="0"/>
                </a:lnTo>
                <a:lnTo>
                  <a:pt x="6699024" y="6699024"/>
                </a:lnTo>
                <a:lnTo>
                  <a:pt x="0" y="6699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068092" y="7123817"/>
            <a:ext cx="10925548" cy="2254759"/>
          </a:xfrm>
          <a:custGeom>
            <a:avLst/>
            <a:gdLst/>
            <a:ahLst/>
            <a:cxnLst/>
            <a:rect l="l" t="t" r="r" b="b"/>
            <a:pathLst>
              <a:path w="10925548" h="2254759">
                <a:moveTo>
                  <a:pt x="0" y="0"/>
                </a:moveTo>
                <a:lnTo>
                  <a:pt x="10925548" y="0"/>
                </a:lnTo>
                <a:lnTo>
                  <a:pt x="10925548" y="2254759"/>
                </a:lnTo>
                <a:lnTo>
                  <a:pt x="0" y="2254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71" t="-12642" b="-1264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611514" y="1653250"/>
            <a:ext cx="11852557" cy="5384841"/>
          </a:xfrm>
          <a:custGeom>
            <a:avLst/>
            <a:gdLst/>
            <a:ahLst/>
            <a:cxnLst/>
            <a:rect l="l" t="t" r="r" b="b"/>
            <a:pathLst>
              <a:path w="11852557" h="5384841">
                <a:moveTo>
                  <a:pt x="0" y="0"/>
                </a:moveTo>
                <a:lnTo>
                  <a:pt x="11852558" y="0"/>
                </a:lnTo>
                <a:lnTo>
                  <a:pt x="11852558" y="5384842"/>
                </a:lnTo>
                <a:lnTo>
                  <a:pt x="0" y="5384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0" y="1959783"/>
            <a:ext cx="467668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6"/>
              </a:lnSpc>
              <a:spcBef>
                <a:spcPct val="0"/>
              </a:spcBef>
            </a:pPr>
            <a:r>
              <a:rPr lang="en-US" sz="438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Idea/Solution: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40155" y="7277391"/>
            <a:ext cx="969384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  <a:spcBef>
                <a:spcPct val="0"/>
              </a:spcBef>
            </a:pPr>
            <a:r>
              <a:rPr lang="en-US" sz="357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Unique Value Propositions (UVP):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014" y="3059931"/>
            <a:ext cx="6458500" cy="502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415" lvl="1" indent="-256708" algn="l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uses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AI/ML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enable predictive monitoring of infrastructure projects using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OCMS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PAIMANA data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13415" lvl="1" indent="-256708" algn="l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predicts potential cost 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 overruns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before they occur.</a:t>
            </a:r>
          </a:p>
          <a:p>
            <a:pPr marL="513415" lvl="1" indent="-256708" algn="l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generates a dynamic risk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score based on key project performance indicators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marL="513415" lvl="1" indent="-256708" algn="l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provides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early-warning alerts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projects at risk of delays or cost escalation.</a:t>
            </a:r>
          </a:p>
          <a:p>
            <a:pPr marL="513415" lvl="1" indent="-256708" algn="l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uses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 the key factors behind each risk prediction.</a:t>
            </a:r>
          </a:p>
          <a:p>
            <a:pPr marL="513415" lvl="1" indent="-256708" algn="l">
              <a:lnSpc>
                <a:spcPts val="2853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enables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benchmarking 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comparison of projects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sectors 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37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agencies</a:t>
            </a:r>
            <a:r>
              <a:rPr lang="en-US" sz="23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2853"/>
              </a:lnSpc>
            </a:pPr>
            <a:endParaRPr lang="en-US" sz="237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37768" y="7914468"/>
            <a:ext cx="1018619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316" lvl="1" indent="-252658" algn="l">
              <a:lnSpc>
                <a:spcPts val="2808"/>
              </a:lnSpc>
              <a:buFont typeface="Arial"/>
              <a:buChar char="•"/>
            </a:pPr>
            <a:r>
              <a:rPr lang="en-US" sz="23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 &amp; Alert:</a:t>
            </a: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Predicts cost/time risks and alerts officials early</a:t>
            </a:r>
            <a:r>
              <a:rPr lang="en-US" sz="23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marL="505316" lvl="1" indent="-252658" algn="l">
              <a:lnSpc>
                <a:spcPts val="2808"/>
              </a:lnSpc>
              <a:buFont typeface="Arial"/>
              <a:buChar char="•"/>
            </a:pPr>
            <a:r>
              <a:rPr lang="en-US" sz="23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&amp; Prioritize:</a:t>
            </a: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Scores risk, explains why, and highlights priority projects.</a:t>
            </a:r>
          </a:p>
          <a:p>
            <a:pPr marL="505316" lvl="1" indent="-252658" algn="l">
              <a:lnSpc>
                <a:spcPts val="2808"/>
              </a:lnSpc>
              <a:buFont typeface="Arial"/>
              <a:buChar char="•"/>
            </a:pPr>
            <a:r>
              <a:rPr lang="en-US" sz="23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 &amp; Act: </a:t>
            </a: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from past projects and suggests timely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7811" y="30325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0014892" y="2140204"/>
            <a:ext cx="7551927" cy="5864985"/>
          </a:xfrm>
          <a:custGeom>
            <a:avLst/>
            <a:gdLst/>
            <a:ahLst/>
            <a:cxnLst/>
            <a:rect l="l" t="t" r="r" b="b"/>
            <a:pathLst>
              <a:path w="7551927" h="5864985">
                <a:moveTo>
                  <a:pt x="0" y="0"/>
                </a:moveTo>
                <a:lnTo>
                  <a:pt x="7551927" y="0"/>
                </a:lnTo>
                <a:lnTo>
                  <a:pt x="7551927" y="5864985"/>
                </a:lnTo>
                <a:lnTo>
                  <a:pt x="0" y="5864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7" t="-635" r="-1769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51188" y="8844756"/>
            <a:ext cx="18036812" cy="638439"/>
            <a:chOff x="0" y="0"/>
            <a:chExt cx="4750436" cy="1681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50436" cy="168148"/>
            </a:xfrm>
            <a:custGeom>
              <a:avLst/>
              <a:gdLst/>
              <a:ahLst/>
              <a:cxnLst/>
              <a:rect l="l" t="t" r="r" b="b"/>
              <a:pathLst>
                <a:path w="4750436" h="168148">
                  <a:moveTo>
                    <a:pt x="29188" y="0"/>
                  </a:moveTo>
                  <a:lnTo>
                    <a:pt x="4721249" y="0"/>
                  </a:lnTo>
                  <a:cubicBezTo>
                    <a:pt x="4728990" y="0"/>
                    <a:pt x="4736414" y="3075"/>
                    <a:pt x="4741887" y="8549"/>
                  </a:cubicBezTo>
                  <a:cubicBezTo>
                    <a:pt x="4747361" y="14023"/>
                    <a:pt x="4750436" y="21447"/>
                    <a:pt x="4750436" y="29188"/>
                  </a:cubicBezTo>
                  <a:lnTo>
                    <a:pt x="4750436" y="138961"/>
                  </a:lnTo>
                  <a:cubicBezTo>
                    <a:pt x="4750436" y="155081"/>
                    <a:pt x="4737368" y="168148"/>
                    <a:pt x="4721249" y="168148"/>
                  </a:cubicBezTo>
                  <a:lnTo>
                    <a:pt x="29188" y="168148"/>
                  </a:lnTo>
                  <a:cubicBezTo>
                    <a:pt x="13068" y="168148"/>
                    <a:pt x="0" y="155081"/>
                    <a:pt x="0" y="138961"/>
                  </a:cubicBezTo>
                  <a:lnTo>
                    <a:pt x="0" y="29188"/>
                  </a:lnTo>
                  <a:cubicBezTo>
                    <a:pt x="0" y="13068"/>
                    <a:pt x="13068" y="0"/>
                    <a:pt x="29188" y="0"/>
                  </a:cubicBezTo>
                  <a:close/>
                </a:path>
              </a:pathLst>
            </a:custGeom>
            <a:solidFill>
              <a:srgbClr val="D9E9F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750436" cy="177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22" name="Freeform 22">
            <a:hlinkClick r:id="rId5" tooltip="https://github.com/aditya-web28/SIH_2026_Internal_Round_Submission_Team_CritiX"/>
          </p:cNvPr>
          <p:cNvSpPr/>
          <p:nvPr/>
        </p:nvSpPr>
        <p:spPr>
          <a:xfrm>
            <a:off x="660944" y="8955676"/>
            <a:ext cx="367756" cy="416599"/>
          </a:xfrm>
          <a:custGeom>
            <a:avLst/>
            <a:gdLst/>
            <a:ahLst/>
            <a:cxnLst/>
            <a:rect l="l" t="t" r="r" b="b"/>
            <a:pathLst>
              <a:path w="367756" h="416599">
                <a:moveTo>
                  <a:pt x="0" y="0"/>
                </a:moveTo>
                <a:lnTo>
                  <a:pt x="367756" y="0"/>
                </a:lnTo>
                <a:lnTo>
                  <a:pt x="367756" y="416599"/>
                </a:lnTo>
                <a:lnTo>
                  <a:pt x="0" y="416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342748" y="8909927"/>
            <a:ext cx="483304" cy="483304"/>
          </a:xfrm>
          <a:custGeom>
            <a:avLst/>
            <a:gdLst/>
            <a:ahLst/>
            <a:cxnLst/>
            <a:rect l="l" t="t" r="r" b="b"/>
            <a:pathLst>
              <a:path w="483304" h="483304">
                <a:moveTo>
                  <a:pt x="0" y="0"/>
                </a:moveTo>
                <a:lnTo>
                  <a:pt x="483305" y="0"/>
                </a:lnTo>
                <a:lnTo>
                  <a:pt x="483305" y="483305"/>
                </a:lnTo>
                <a:lnTo>
                  <a:pt x="0" y="4833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165167" y="8831007"/>
            <a:ext cx="689110" cy="689110"/>
          </a:xfrm>
          <a:custGeom>
            <a:avLst/>
            <a:gdLst/>
            <a:ahLst/>
            <a:cxnLst/>
            <a:rect l="l" t="t" r="r" b="b"/>
            <a:pathLst>
              <a:path w="689110" h="689110">
                <a:moveTo>
                  <a:pt x="0" y="0"/>
                </a:moveTo>
                <a:lnTo>
                  <a:pt x="689110" y="0"/>
                </a:lnTo>
                <a:lnTo>
                  <a:pt x="689110" y="689110"/>
                </a:lnTo>
                <a:lnTo>
                  <a:pt x="0" y="68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744570" y="8887128"/>
            <a:ext cx="553695" cy="553695"/>
          </a:xfrm>
          <a:custGeom>
            <a:avLst/>
            <a:gdLst/>
            <a:ahLst/>
            <a:cxnLst/>
            <a:rect l="l" t="t" r="r" b="b"/>
            <a:pathLst>
              <a:path w="553695" h="553695">
                <a:moveTo>
                  <a:pt x="0" y="0"/>
                </a:moveTo>
                <a:lnTo>
                  <a:pt x="553695" y="0"/>
                </a:lnTo>
                <a:lnTo>
                  <a:pt x="553695" y="553694"/>
                </a:lnTo>
                <a:lnTo>
                  <a:pt x="0" y="5536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050269" y="8955676"/>
            <a:ext cx="542327" cy="542327"/>
          </a:xfrm>
          <a:custGeom>
            <a:avLst/>
            <a:gdLst/>
            <a:ahLst/>
            <a:cxnLst/>
            <a:rect l="l" t="t" r="r" b="b"/>
            <a:pathLst>
              <a:path w="542327" h="542327">
                <a:moveTo>
                  <a:pt x="0" y="0"/>
                </a:moveTo>
                <a:lnTo>
                  <a:pt x="542327" y="0"/>
                </a:lnTo>
                <a:lnTo>
                  <a:pt x="542327" y="542327"/>
                </a:lnTo>
                <a:lnTo>
                  <a:pt x="0" y="542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874676" y="8887128"/>
            <a:ext cx="709027" cy="709027"/>
          </a:xfrm>
          <a:custGeom>
            <a:avLst/>
            <a:gdLst/>
            <a:ahLst/>
            <a:cxnLst/>
            <a:rect l="l" t="t" r="r" b="b"/>
            <a:pathLst>
              <a:path w="709027" h="709027">
                <a:moveTo>
                  <a:pt x="0" y="0"/>
                </a:moveTo>
                <a:lnTo>
                  <a:pt x="709027" y="0"/>
                </a:lnTo>
                <a:lnTo>
                  <a:pt x="709027" y="709026"/>
                </a:lnTo>
                <a:lnTo>
                  <a:pt x="0" y="7090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393602" y="8869650"/>
            <a:ext cx="511471" cy="511471"/>
          </a:xfrm>
          <a:custGeom>
            <a:avLst/>
            <a:gdLst/>
            <a:ahLst/>
            <a:cxnLst/>
            <a:rect l="l" t="t" r="r" b="b"/>
            <a:pathLst>
              <a:path w="511471" h="511471">
                <a:moveTo>
                  <a:pt x="0" y="0"/>
                </a:moveTo>
                <a:lnTo>
                  <a:pt x="511471" y="0"/>
                </a:lnTo>
                <a:lnTo>
                  <a:pt x="511471" y="511471"/>
                </a:lnTo>
                <a:lnTo>
                  <a:pt x="0" y="5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6337344" y="8932994"/>
            <a:ext cx="461962" cy="461963"/>
          </a:xfrm>
          <a:custGeom>
            <a:avLst/>
            <a:gdLst/>
            <a:ahLst/>
            <a:cxnLst/>
            <a:rect l="l" t="t" r="r" b="b"/>
            <a:pathLst>
              <a:path w="461962" h="461963">
                <a:moveTo>
                  <a:pt x="0" y="0"/>
                </a:moveTo>
                <a:lnTo>
                  <a:pt x="461963" y="0"/>
                </a:lnTo>
                <a:lnTo>
                  <a:pt x="461963" y="461962"/>
                </a:lnTo>
                <a:lnTo>
                  <a:pt x="0" y="461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97454" y="1679632"/>
            <a:ext cx="4959941" cy="6927737"/>
          </a:xfrm>
          <a:custGeom>
            <a:avLst/>
            <a:gdLst/>
            <a:ahLst/>
            <a:cxnLst/>
            <a:rect l="l" t="t" r="r" b="b"/>
            <a:pathLst>
              <a:path w="4959941" h="6927737">
                <a:moveTo>
                  <a:pt x="0" y="0"/>
                </a:moveTo>
                <a:lnTo>
                  <a:pt x="4959941" y="0"/>
                </a:lnTo>
                <a:lnTo>
                  <a:pt x="4959941" y="6927736"/>
                </a:lnTo>
                <a:lnTo>
                  <a:pt x="0" y="69277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2682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05665" y="9105190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49"/>
                </a:lnTo>
                <a:lnTo>
                  <a:pt x="0" y="173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5557395" y="8375438"/>
            <a:ext cx="4120926" cy="381000"/>
            <a:chOff x="0" y="0"/>
            <a:chExt cx="1085347" cy="10034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5347" cy="100346"/>
            </a:xfrm>
            <a:custGeom>
              <a:avLst/>
              <a:gdLst/>
              <a:ahLst/>
              <a:cxnLst/>
              <a:rect l="l" t="t" r="r" b="b"/>
              <a:pathLst>
                <a:path w="1085347" h="100346">
                  <a:moveTo>
                    <a:pt x="31938" y="0"/>
                  </a:moveTo>
                  <a:lnTo>
                    <a:pt x="1053409" y="0"/>
                  </a:lnTo>
                  <a:cubicBezTo>
                    <a:pt x="1071048" y="0"/>
                    <a:pt x="1085347" y="14299"/>
                    <a:pt x="1085347" y="31938"/>
                  </a:cubicBezTo>
                  <a:lnTo>
                    <a:pt x="1085347" y="68408"/>
                  </a:lnTo>
                  <a:cubicBezTo>
                    <a:pt x="1085347" y="76878"/>
                    <a:pt x="1081982" y="85002"/>
                    <a:pt x="1075992" y="90991"/>
                  </a:cubicBezTo>
                  <a:cubicBezTo>
                    <a:pt x="1070003" y="96981"/>
                    <a:pt x="1061879" y="100346"/>
                    <a:pt x="1053409" y="100346"/>
                  </a:cubicBezTo>
                  <a:lnTo>
                    <a:pt x="31938" y="100346"/>
                  </a:lnTo>
                  <a:cubicBezTo>
                    <a:pt x="23467" y="100346"/>
                    <a:pt x="15344" y="96981"/>
                    <a:pt x="9354" y="90991"/>
                  </a:cubicBezTo>
                  <a:cubicBezTo>
                    <a:pt x="3365" y="85002"/>
                    <a:pt x="0" y="76878"/>
                    <a:pt x="0" y="68408"/>
                  </a:cubicBezTo>
                  <a:lnTo>
                    <a:pt x="0" y="31938"/>
                  </a:lnTo>
                  <a:cubicBezTo>
                    <a:pt x="0" y="23467"/>
                    <a:pt x="3365" y="15344"/>
                    <a:pt x="9354" y="9354"/>
                  </a:cubicBezTo>
                  <a:cubicBezTo>
                    <a:pt x="15344" y="3365"/>
                    <a:pt x="23467" y="0"/>
                    <a:pt x="3193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85347" cy="109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59307" y="8356388"/>
            <a:ext cx="1271710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Very simple overall flow: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25868" y="8946151"/>
            <a:ext cx="82004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11427" y="8946499"/>
            <a:ext cx="111978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86718" y="8991275"/>
            <a:ext cx="97884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78321" y="8965720"/>
            <a:ext cx="146402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Risk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69428" y="8946151"/>
            <a:ext cx="106694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971748" y="8956317"/>
            <a:ext cx="65231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827882" y="8956317"/>
            <a:ext cx="137532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6008" y="8965720"/>
            <a:ext cx="59933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</a:p>
        </p:txBody>
      </p:sp>
      <p:sp>
        <p:nvSpPr>
          <p:cNvPr id="44" name="Freeform 44"/>
          <p:cNvSpPr/>
          <p:nvPr/>
        </p:nvSpPr>
        <p:spPr>
          <a:xfrm>
            <a:off x="3664961" y="9074458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50"/>
                </a:lnTo>
                <a:lnTo>
                  <a:pt x="0" y="173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059862" y="9100012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50"/>
                </a:lnTo>
                <a:lnTo>
                  <a:pt x="0" y="173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8365561" y="9141413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49"/>
                </a:lnTo>
                <a:lnTo>
                  <a:pt x="0" y="173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1170918" y="9077450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50"/>
                </a:lnTo>
                <a:lnTo>
                  <a:pt x="0" y="173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790856" y="9068592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49"/>
                </a:lnTo>
                <a:lnTo>
                  <a:pt x="0" y="173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5662161" y="9068592"/>
            <a:ext cx="618033" cy="173049"/>
          </a:xfrm>
          <a:custGeom>
            <a:avLst/>
            <a:gdLst/>
            <a:ahLst/>
            <a:cxnLst/>
            <a:rect l="l" t="t" r="r" b="b"/>
            <a:pathLst>
              <a:path w="618033" h="173049">
                <a:moveTo>
                  <a:pt x="0" y="0"/>
                </a:moveTo>
                <a:lnTo>
                  <a:pt x="618033" y="0"/>
                </a:lnTo>
                <a:lnTo>
                  <a:pt x="618033" y="173049"/>
                </a:lnTo>
                <a:lnTo>
                  <a:pt x="0" y="173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0000" b="-43000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34904" y="1953274"/>
            <a:ext cx="8346600" cy="2796111"/>
          </a:xfrm>
          <a:custGeom>
            <a:avLst/>
            <a:gdLst/>
            <a:ahLst/>
            <a:cxnLst/>
            <a:rect l="l" t="t" r="r" b="b"/>
            <a:pathLst>
              <a:path w="8346600" h="2796111">
                <a:moveTo>
                  <a:pt x="0" y="0"/>
                </a:moveTo>
                <a:lnTo>
                  <a:pt x="8346601" y="0"/>
                </a:lnTo>
                <a:lnTo>
                  <a:pt x="8346601" y="2796111"/>
                </a:lnTo>
                <a:lnTo>
                  <a:pt x="0" y="2796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531102" y="4810001"/>
            <a:ext cx="1406795" cy="1406795"/>
          </a:xfrm>
          <a:custGeom>
            <a:avLst/>
            <a:gdLst/>
            <a:ahLst/>
            <a:cxnLst/>
            <a:rect l="l" t="t" r="r" b="b"/>
            <a:pathLst>
              <a:path w="1406795" h="1406795">
                <a:moveTo>
                  <a:pt x="0" y="0"/>
                </a:moveTo>
                <a:lnTo>
                  <a:pt x="1406795" y="0"/>
                </a:lnTo>
                <a:lnTo>
                  <a:pt x="1406795" y="1406795"/>
                </a:lnTo>
                <a:lnTo>
                  <a:pt x="0" y="1406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087608" y="4115343"/>
            <a:ext cx="8200392" cy="2747131"/>
          </a:xfrm>
          <a:custGeom>
            <a:avLst/>
            <a:gdLst/>
            <a:ahLst/>
            <a:cxnLst/>
            <a:rect l="l" t="t" r="r" b="b"/>
            <a:pathLst>
              <a:path w="8200392" h="2747131">
                <a:moveTo>
                  <a:pt x="0" y="0"/>
                </a:moveTo>
                <a:lnTo>
                  <a:pt x="8200392" y="0"/>
                </a:lnTo>
                <a:lnTo>
                  <a:pt x="8200392" y="2747131"/>
                </a:lnTo>
                <a:lnTo>
                  <a:pt x="0" y="2747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7907" y="6416260"/>
            <a:ext cx="8213598" cy="2751555"/>
          </a:xfrm>
          <a:custGeom>
            <a:avLst/>
            <a:gdLst/>
            <a:ahLst/>
            <a:cxnLst/>
            <a:rect l="l" t="t" r="r" b="b"/>
            <a:pathLst>
              <a:path w="8213598" h="2751555">
                <a:moveTo>
                  <a:pt x="0" y="0"/>
                </a:moveTo>
                <a:lnTo>
                  <a:pt x="8213598" y="0"/>
                </a:lnTo>
                <a:lnTo>
                  <a:pt x="8213598" y="2751555"/>
                </a:lnTo>
                <a:lnTo>
                  <a:pt x="0" y="27515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514507" y="7102621"/>
            <a:ext cx="1423390" cy="1423390"/>
          </a:xfrm>
          <a:custGeom>
            <a:avLst/>
            <a:gdLst/>
            <a:ahLst/>
            <a:cxnLst/>
            <a:rect l="l" t="t" r="r" b="b"/>
            <a:pathLst>
              <a:path w="1423390" h="1423390">
                <a:moveTo>
                  <a:pt x="0" y="0"/>
                </a:moveTo>
                <a:lnTo>
                  <a:pt x="1423390" y="0"/>
                </a:lnTo>
                <a:lnTo>
                  <a:pt x="1423390" y="1423389"/>
                </a:lnTo>
                <a:lnTo>
                  <a:pt x="0" y="1423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 flipH="1">
            <a:off x="9226202" y="6216796"/>
            <a:ext cx="8297" cy="885825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8548564" y="2622029"/>
            <a:ext cx="1389333" cy="1389333"/>
          </a:xfrm>
          <a:custGeom>
            <a:avLst/>
            <a:gdLst/>
            <a:ahLst/>
            <a:cxnLst/>
            <a:rect l="l" t="t" r="r" b="b"/>
            <a:pathLst>
              <a:path w="1389333" h="1389333">
                <a:moveTo>
                  <a:pt x="0" y="0"/>
                </a:moveTo>
                <a:lnTo>
                  <a:pt x="1389333" y="0"/>
                </a:lnTo>
                <a:lnTo>
                  <a:pt x="1389333" y="1389333"/>
                </a:lnTo>
                <a:lnTo>
                  <a:pt x="0" y="1389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11545241" y="4260861"/>
            <a:ext cx="5431334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Strategies for overcoming these challenges</a:t>
            </a:r>
          </a:p>
          <a:p>
            <a:pPr algn="just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Data:</a:t>
            </a:r>
            <a:r>
              <a:rPr lang="en-US" sz="22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Clean and verify data.</a:t>
            </a:r>
          </a:p>
          <a:p>
            <a:pPr algn="just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Models: </a:t>
            </a:r>
            <a:r>
              <a:rPr lang="en-US" sz="22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and select the best model.</a:t>
            </a:r>
          </a:p>
          <a:p>
            <a:pPr algn="just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Accuracy: </a:t>
            </a:r>
            <a:r>
              <a:rPr lang="en-US" sz="22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models regularly.</a:t>
            </a:r>
          </a:p>
          <a:p>
            <a:pPr algn="just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Trust: </a:t>
            </a:r>
            <a:r>
              <a:rPr lang="en-US" sz="22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reasons behind predictions.</a:t>
            </a:r>
          </a:p>
          <a:p>
            <a:pPr algn="just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Alerts: </a:t>
            </a:r>
            <a:r>
              <a:rPr lang="en-US" sz="22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proper risk levels.</a:t>
            </a:r>
          </a:p>
          <a:p>
            <a:pPr algn="just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Human + AI: </a:t>
            </a:r>
            <a:r>
              <a:rPr lang="en-US" sz="22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Officials make the final decision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3844" y="2270136"/>
            <a:ext cx="6588721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7"/>
              </a:lnSpc>
              <a:spcBef>
                <a:spcPct val="0"/>
              </a:spcBef>
            </a:pP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Analysis of the feasibility of the idea</a:t>
            </a:r>
          </a:p>
          <a:p>
            <a:pPr algn="just">
              <a:lnSpc>
                <a:spcPts val="2697"/>
              </a:lnSpc>
              <a:spcBef>
                <a:spcPct val="0"/>
              </a:spcBef>
            </a:pP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Technical: </a:t>
            </a:r>
            <a:r>
              <a:rPr lang="en-US" sz="22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PAIMANA data + AI/ML.</a:t>
            </a:r>
          </a:p>
          <a:p>
            <a:pPr algn="just">
              <a:lnSpc>
                <a:spcPts val="2697"/>
              </a:lnSpc>
              <a:spcBef>
                <a:spcPct val="0"/>
              </a:spcBef>
            </a:pP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Financial: </a:t>
            </a:r>
            <a:r>
              <a:rPr lang="en-US" sz="22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low-cost open-source tools.</a:t>
            </a:r>
          </a:p>
          <a:p>
            <a:pPr algn="just">
              <a:lnSpc>
                <a:spcPts val="2697"/>
              </a:lnSpc>
              <a:spcBef>
                <a:spcPct val="0"/>
              </a:spcBef>
            </a:pP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Market:</a:t>
            </a:r>
            <a:r>
              <a:rPr lang="en-US" sz="22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Useful for MoSPI and government departments</a:t>
            </a: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just">
              <a:lnSpc>
                <a:spcPts val="2697"/>
              </a:lnSpc>
              <a:spcBef>
                <a:spcPct val="0"/>
              </a:spcBef>
            </a:pP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Operational: </a:t>
            </a:r>
            <a:r>
              <a:rPr lang="en-US" sz="22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dashboard for easy monitoring.</a:t>
            </a:r>
          </a:p>
          <a:p>
            <a:pPr algn="just">
              <a:lnSpc>
                <a:spcPts val="2697"/>
              </a:lnSpc>
              <a:spcBef>
                <a:spcPct val="0"/>
              </a:spcBef>
            </a:pPr>
            <a:r>
              <a:rPr lang="en-US" sz="22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Scalable: </a:t>
            </a:r>
            <a:r>
              <a:rPr lang="en-US" sz="22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cover more projects and sectors.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2677" y="6549478"/>
            <a:ext cx="5549801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Potential challenges and risks</a:t>
            </a:r>
          </a:p>
          <a:p>
            <a:pPr algn="just">
              <a:lnSpc>
                <a:spcPts val="3020"/>
              </a:lnSpc>
              <a:spcBef>
                <a:spcPct val="0"/>
              </a:spcBef>
            </a:pP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Technical: </a:t>
            </a:r>
            <a:r>
              <a:rPr lang="en-US" sz="25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or incorrect data</a:t>
            </a: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just">
              <a:lnSpc>
                <a:spcPts val="3020"/>
              </a:lnSpc>
              <a:spcBef>
                <a:spcPct val="0"/>
              </a:spcBef>
            </a:pP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Financial: </a:t>
            </a:r>
            <a:r>
              <a:rPr lang="en-US" sz="25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cost for large-scale data</a:t>
            </a: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just">
              <a:lnSpc>
                <a:spcPts val="3020"/>
              </a:lnSpc>
              <a:spcBef>
                <a:spcPct val="0"/>
              </a:spcBef>
            </a:pP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Market:</a:t>
            </a:r>
            <a:r>
              <a:rPr lang="en-US" sz="25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 trust in AI predictions.</a:t>
            </a:r>
          </a:p>
          <a:p>
            <a:pPr algn="just">
              <a:lnSpc>
                <a:spcPts val="3020"/>
              </a:lnSpc>
              <a:spcBef>
                <a:spcPct val="0"/>
              </a:spcBef>
            </a:pP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Operational:</a:t>
            </a:r>
            <a:r>
              <a:rPr lang="en-US" sz="25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Need regular data updates.</a:t>
            </a:r>
          </a:p>
          <a:p>
            <a:pPr algn="just">
              <a:lnSpc>
                <a:spcPts val="3020"/>
              </a:lnSpc>
              <a:spcBef>
                <a:spcPct val="0"/>
              </a:spcBef>
            </a:pP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AI: </a:t>
            </a:r>
            <a:r>
              <a:rPr lang="en-US" sz="25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Wrong predictions or false alerts</a:t>
            </a:r>
            <a:r>
              <a:rPr lang="en-US" sz="25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9234499" y="4011362"/>
            <a:ext cx="8731" cy="79863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V="1">
            <a:off x="8381505" y="3316695"/>
            <a:ext cx="167059" cy="34634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V="1">
            <a:off x="9937897" y="5488908"/>
            <a:ext cx="149711" cy="2449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8381505" y="7792038"/>
            <a:ext cx="133002" cy="22278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232818" y="1741380"/>
            <a:ext cx="14488359" cy="756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7"/>
              </a:lnSpc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Impact on Target Audience: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MoSPI 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IPMD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Identify high-risk projects early.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Monitoring Officers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Get early alerts and risk reasons.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Ministries 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Departments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Track project health and take timely action.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Makers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Compare projects and prioritise resources.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Teams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Address risks before they become major issues.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Shift from reactive monitoring to proactive action.</a:t>
            </a:r>
          </a:p>
          <a:p>
            <a:pPr algn="l">
              <a:lnSpc>
                <a:spcPts val="4137"/>
              </a:lnSpc>
              <a:spcBef>
                <a:spcPct val="0"/>
              </a:spcBef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of the Solution: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Faster delivery of public infrastructure.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Early detection of cost increases and better use of public funds.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Governance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Faster, data-driven project monitoring.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Less manual effort in identifying high-risk projects.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Reduce resource wastage from prolonged delays and rework.</a:t>
            </a:r>
          </a:p>
          <a:p>
            <a:pPr marL="744403" lvl="1" indent="-372202" algn="l">
              <a:lnSpc>
                <a:spcPts val="4137"/>
              </a:lnSpc>
              <a:spcBef>
                <a:spcPct val="0"/>
              </a:spcBef>
              <a:buFont typeface="Arial"/>
              <a:buChar char="•"/>
            </a:pPr>
            <a:r>
              <a:rPr lang="en-US" sz="34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Long-Term</a:t>
            </a:r>
            <a:r>
              <a:rPr lang="en-US" sz="34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Scalable monitoring across sectors and projects.</a:t>
            </a:r>
          </a:p>
          <a:p>
            <a:pPr algn="ctr">
              <a:lnSpc>
                <a:spcPts val="1580"/>
              </a:lnSpc>
              <a:spcBef>
                <a:spcPct val="0"/>
              </a:spcBef>
            </a:pPr>
            <a:endParaRPr lang="en-US" sz="344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0100" y="-98077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2208054" y="1589372"/>
            <a:ext cx="16251396" cy="7921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8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MoSPI – </a:t>
            </a: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&amp; Project Monitoring Division (IPMD)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PAIMANA Project Monitoring Platform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u="sng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ipm.mospi.gov.in"/>
              </a:rPr>
              <a:t>https://ipm.mospi.gov.in/AboutUs/AboutIPMD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PAIMANA Public Dashboard</a:t>
            </a:r>
          </a:p>
          <a:p>
            <a:pPr algn="l">
              <a:lnSpc>
                <a:spcPts val="2447"/>
              </a:lnSpc>
              <a:spcBef>
                <a:spcPct val="0"/>
              </a:spcBef>
            </a:pPr>
            <a:r>
              <a:rPr lang="en-US" sz="2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cost, expenditure, progress and sector-wise project information.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43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https://ipm.mospi.gov.in/Home/PublicDashboard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New OCMS – PAIMANA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monitoring, standardized metrics and time/cost-overrun monitoring.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https://ipm.mospi.gov.in/AboutUs/AboutOCMS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OCMS – MoSPI FAQ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Background and role of OCMS in Central Sector Infrastructure Project monitoring.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https://ipm.mospi.gov.in/FAQ/Index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Machine Learning &amp; Model Evaluation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documentation — model selection, cross-validation and prediction evaluation.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https://scikit-learn.org/stable/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XGBoost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Gradient-boosting methods for machine-learning based prediction.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https://xgboost.readthedocs.io/en/stable/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 Explainable AI – SHAP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understand which features contribute to an ML prediction. </a:t>
            </a:r>
            <a:r>
              <a:rPr lang="en-US" sz="1943" u="sng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shap.readthedocs.io/en/latest/"/>
              </a:rPr>
              <a:t>https://shap.readthedocs.io/en/latest/example_notebooks/overviews/An%20introduction%20to%20explainable%20AI%20with%20Shapley%20values.html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 FastAPI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building the backend APIs connecting the prediction system with the dashboard. 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r>
              <a:rPr lang="en-US" sz="1943">
                <a:solidFill>
                  <a:srgbClr val="4A7EB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https://fastapi.tiangolo.com/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endParaRPr lang="en-US" sz="1943">
              <a:solidFill>
                <a:srgbClr val="4A7EB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899"/>
              </a:lnSpc>
              <a:spcBef>
                <a:spcPct val="0"/>
              </a:spcBef>
            </a:pPr>
            <a:endParaRPr lang="en-US" sz="1943">
              <a:solidFill>
                <a:srgbClr val="4A7EB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11712" y="1769955"/>
            <a:ext cx="1706473" cy="1141878"/>
          </a:xfrm>
          <a:custGeom>
            <a:avLst/>
            <a:gdLst/>
            <a:ahLst/>
            <a:cxnLst/>
            <a:rect l="l" t="t" r="r" b="b"/>
            <a:pathLst>
              <a:path w="1706473" h="1141878">
                <a:moveTo>
                  <a:pt x="0" y="0"/>
                </a:moveTo>
                <a:lnTo>
                  <a:pt x="1706474" y="0"/>
                </a:lnTo>
                <a:lnTo>
                  <a:pt x="1706474" y="1141878"/>
                </a:lnTo>
                <a:lnTo>
                  <a:pt x="0" y="1141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02158" y="3001701"/>
            <a:ext cx="525582" cy="525582"/>
          </a:xfrm>
          <a:custGeom>
            <a:avLst/>
            <a:gdLst/>
            <a:ahLst/>
            <a:cxnLst/>
            <a:rect l="l" t="t" r="r" b="b"/>
            <a:pathLst>
              <a:path w="525582" h="525582">
                <a:moveTo>
                  <a:pt x="0" y="0"/>
                </a:moveTo>
                <a:lnTo>
                  <a:pt x="525582" y="0"/>
                </a:lnTo>
                <a:lnTo>
                  <a:pt x="525582" y="525582"/>
                </a:lnTo>
                <a:lnTo>
                  <a:pt x="0" y="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62130" y="3813033"/>
            <a:ext cx="405638" cy="405638"/>
          </a:xfrm>
          <a:custGeom>
            <a:avLst/>
            <a:gdLst/>
            <a:ahLst/>
            <a:cxnLst/>
            <a:rect l="l" t="t" r="r" b="b"/>
            <a:pathLst>
              <a:path w="405638" h="405638">
                <a:moveTo>
                  <a:pt x="0" y="0"/>
                </a:moveTo>
                <a:lnTo>
                  <a:pt x="405638" y="0"/>
                </a:lnTo>
                <a:lnTo>
                  <a:pt x="405638" y="405638"/>
                </a:lnTo>
                <a:lnTo>
                  <a:pt x="0" y="40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33555" y="4755369"/>
            <a:ext cx="518527" cy="518527"/>
          </a:xfrm>
          <a:custGeom>
            <a:avLst/>
            <a:gdLst/>
            <a:ahLst/>
            <a:cxnLst/>
            <a:rect l="l" t="t" r="r" b="b"/>
            <a:pathLst>
              <a:path w="518527" h="518527">
                <a:moveTo>
                  <a:pt x="0" y="0"/>
                </a:moveTo>
                <a:lnTo>
                  <a:pt x="518527" y="0"/>
                </a:lnTo>
                <a:lnTo>
                  <a:pt x="518527" y="518527"/>
                </a:lnTo>
                <a:lnTo>
                  <a:pt x="0" y="518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28849" y="5559646"/>
            <a:ext cx="566810" cy="566810"/>
          </a:xfrm>
          <a:custGeom>
            <a:avLst/>
            <a:gdLst/>
            <a:ahLst/>
            <a:cxnLst/>
            <a:rect l="l" t="t" r="r" b="b"/>
            <a:pathLst>
              <a:path w="566810" h="566810">
                <a:moveTo>
                  <a:pt x="0" y="0"/>
                </a:moveTo>
                <a:lnTo>
                  <a:pt x="566810" y="0"/>
                </a:lnTo>
                <a:lnTo>
                  <a:pt x="566810" y="566810"/>
                </a:lnTo>
                <a:lnTo>
                  <a:pt x="0" y="5668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55985" y="6300981"/>
            <a:ext cx="1221840" cy="750619"/>
          </a:xfrm>
          <a:custGeom>
            <a:avLst/>
            <a:gdLst/>
            <a:ahLst/>
            <a:cxnLst/>
            <a:rect l="l" t="t" r="r" b="b"/>
            <a:pathLst>
              <a:path w="1221840" h="750619">
                <a:moveTo>
                  <a:pt x="0" y="0"/>
                </a:moveTo>
                <a:lnTo>
                  <a:pt x="1221841" y="0"/>
                </a:lnTo>
                <a:lnTo>
                  <a:pt x="1221841" y="750619"/>
                </a:lnTo>
                <a:lnTo>
                  <a:pt x="0" y="7506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765</Words>
  <Application>Microsoft Office PowerPoint</Application>
  <PresentationFormat>Custom</PresentationFormat>
  <Paragraphs>109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Calibri</vt:lpstr>
      <vt:lpstr>Garamond Bold</vt:lpstr>
      <vt:lpstr>Calibri (MS) Bold</vt:lpstr>
      <vt:lpstr>Times New Roman</vt:lpstr>
      <vt:lpstr>Arimo</vt:lpstr>
      <vt:lpstr>Calibri (MS)</vt:lpstr>
      <vt:lpstr>Arial Bold</vt:lpstr>
      <vt:lpstr>Arimo Bold</vt:lpstr>
      <vt:lpstr>Arial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Problem Statement Title- Theme- PS Category- Software/Hardware Team ID- Team Name (Registered on portal)</dc:title>
  <dc:creator>Addyyy</dc:creator>
  <cp:lastModifiedBy>aditya prasad</cp:lastModifiedBy>
  <cp:revision>2</cp:revision>
  <dcterms:created xsi:type="dcterms:W3CDTF">2006-08-16T00:00:00Z</dcterms:created>
  <dcterms:modified xsi:type="dcterms:W3CDTF">2026-09-10T13:06:32Z</dcterms:modified>
  <dc:identifier>DAHTaCKIfWk</dc:identifier>
</cp:coreProperties>
</file>